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488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Student Support Service Chatbot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70248" y="3246120"/>
            <a:ext cx="3657600" cy="45720"/>
          </a:xfrm>
          <a:prstGeom prst="rect">
            <a:avLst/>
          </a:prstGeom>
          <a:solidFill>
            <a:srgbClr val="38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9EC5F5"/>
                </a:solidFill>
                <a:latin typeface="Calibri"/>
              </a:rPr>
              <a:t>Tools &amp; Libraries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5BDC9"/>
                </a:solidFill>
                <a:latin typeface="Calibri"/>
              </a:rPr>
              <a:t>An AI-powered student help desk • Flask + scikit-learn + Groq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What it is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A web-based student support assistant that answers questions about college services, academics and internships through a simple chat interface.</a:t>
            </a:r>
          </a:p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How it answers  –  three layers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•  ML intent model (scikit-learn TF-IDF + Logistic Regression) for common queries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•  Rule-based regex patterns as a fast fallback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•  Groq LLM (llama-3.1) for Academic &amp; Internship modes, grounded on local JSON data</a:t>
            </a:r>
          </a:p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Chat modes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General  •  Academic (university data)  •  Internship (live-style listings)</a:t>
            </a:r>
          </a:p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Extras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Session login, browser-stored API key, and a unit-test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2103120" cy="1554480"/>
          </a:xfrm>
          <a:prstGeom prst="roundRect">
            <a:avLst/>
          </a:prstGeom>
          <a:solidFill>
            <a:srgbClr val="38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Browser UI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HTML / CSS / JS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2971800"/>
            <a:ext cx="502920" cy="548640"/>
          </a:xfrm>
          <a:prstGeom prst="rightArrow">
            <a:avLst/>
          </a:prstGeom>
          <a:solidFill>
            <a:srgbClr val="38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2468880"/>
            <a:ext cx="2103120" cy="1554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Flask API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/api/chat, 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40680" y="2971800"/>
            <a:ext cx="502920" cy="548640"/>
          </a:xfrm>
          <a:prstGeom prst="rightArrow">
            <a:avLst/>
          </a:prstGeom>
          <a:solidFill>
            <a:srgbClr val="38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468880"/>
            <a:ext cx="2103120" cy="1554480"/>
          </a:xfrm>
          <a:prstGeom prst="roundRect">
            <a:avLst/>
          </a:prstGeom>
          <a:solidFill>
            <a:srgbClr val="F4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Chatbot Engine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ML → rules → LLM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79" y="2971800"/>
            <a:ext cx="502920" cy="548640"/>
          </a:xfrm>
          <a:prstGeom prst="rightArrow">
            <a:avLst/>
          </a:prstGeom>
          <a:solidFill>
            <a:srgbClr val="38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2468880"/>
            <a:ext cx="2103120" cy="155448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Response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text reply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Groq LLM API and JSON knowledge files (university_data.json, internship_template.json) power the Academic and Internship modes; joblib loads the pre-trained scikit-learn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 Stack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2E7D32"/>
                </a:solidFill>
              </a:rPr>
              <a:t>Backend</a:t>
            </a:r>
          </a:p>
          <a:p>
            <a:r>
              <a:rPr sz="1500">
                <a:solidFill>
                  <a:srgbClr val="4A5568"/>
                </a:solidFill>
              </a:rPr>
              <a:t>•  Python</a:t>
            </a:r>
          </a:p>
          <a:p>
            <a:r>
              <a:rPr sz="1500">
                <a:solidFill>
                  <a:srgbClr val="4A5568"/>
                </a:solidFill>
              </a:rPr>
              <a:t>•  Flask</a:t>
            </a:r>
          </a:p>
          <a:p>
            <a:r>
              <a:rPr sz="1500">
                <a:solidFill>
                  <a:srgbClr val="4A5568"/>
                </a:solidFill>
              </a:rPr>
              <a:t>• 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F48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F48C1D"/>
                </a:solidFill>
              </a:rPr>
              <a:t>Machine Learning</a:t>
            </a:r>
          </a:p>
          <a:p>
            <a:r>
              <a:rPr sz="1500">
                <a:solidFill>
                  <a:srgbClr val="4A5568"/>
                </a:solidFill>
              </a:rPr>
              <a:t>•  scikit-learn</a:t>
            </a:r>
          </a:p>
          <a:p>
            <a:r>
              <a:rPr sz="1500">
                <a:solidFill>
                  <a:srgbClr val="4A5568"/>
                </a:solidFill>
              </a:rPr>
              <a:t>•  joblib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F45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F45B42"/>
                </a:solidFill>
              </a:rPr>
              <a:t>AI / LLM</a:t>
            </a:r>
          </a:p>
          <a:p>
            <a:r>
              <a:rPr sz="1500">
                <a:solidFill>
                  <a:srgbClr val="4A5568"/>
                </a:solidFill>
              </a:rPr>
              <a:t>•  Groq API (llama-3.1)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387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387AE0"/>
                </a:solidFill>
              </a:rPr>
              <a:t>Frontend</a:t>
            </a:r>
          </a:p>
          <a:p>
            <a:r>
              <a:rPr sz="1500">
                <a:solidFill>
                  <a:srgbClr val="4A5568"/>
                </a:solidFill>
              </a:rPr>
              <a:t>•  HTML5</a:t>
            </a:r>
          </a:p>
          <a:p>
            <a:r>
              <a:rPr sz="1500">
                <a:solidFill>
                  <a:srgbClr val="4A5568"/>
                </a:solidFill>
              </a:rPr>
              <a:t>•  CSS3</a:t>
            </a:r>
          </a:p>
          <a:p>
            <a:r>
              <a:rPr sz="1500">
                <a:solidFill>
                  <a:srgbClr val="4A5568"/>
                </a:solidFill>
              </a:rPr>
              <a:t>• 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9476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5E35B1"/>
                </a:solidFill>
              </a:rPr>
              <a:t>Data</a:t>
            </a:r>
          </a:p>
          <a:p>
            <a:r>
              <a:rPr sz="1500">
                <a:solidFill>
                  <a:srgbClr val="4A5568"/>
                </a:solidFill>
              </a:rPr>
              <a:t>•  JSON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794760"/>
            <a:ext cx="3566160" cy="219456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2000">
                <a:solidFill>
                  <a:srgbClr val="00838F"/>
                </a:solidFill>
              </a:rPr>
              <a:t>Testing</a:t>
            </a:r>
          </a:p>
          <a:p>
            <a:r>
              <a:rPr sz="1500">
                <a:solidFill>
                  <a:srgbClr val="4A5568"/>
                </a:solidFill>
              </a:rPr>
              <a:t>•  unittest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Runs the backend server and the ML training script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Standard library: re, json, random, datetime for logic &amp; data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Lightweight web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Serves the static frontend and JSON REST API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Routes: /api/login, /api/logout, /api/session, /api/chat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Uses server-side sessions for login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ikit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scikit-learn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Machine learning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TfidfVectorizer + LogisticRegression in a Pipeline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Classifies a message into an intent (greeting, hours, registration...)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Trained by train_model.py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b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joblib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Model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Saves &amp; loads the trained pipeline and responses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Files: model/pipeline.joblib, model/responses.joblib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Lets the app skip re-training at startup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HTTP client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Calls the Groq chat-completions REST endpoint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Sends the API key as a Bearer token with a 30s timeout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Handles HTTP errors (rate limit, auth) gracefully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o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Groq LLM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Large language model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Powers Academic &amp; Internship modes (model: llama-3.1-8b-instant)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Prompts are grounded on local university &amp; internship JSON data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Key supplied via env var or saved in the 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tm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HTML5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Page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index.html builds the login panel and chat UI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Semantic markup with accessible labels &amp; aria attributes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s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CSS3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styles.css themes the login card, chat bubbles and mode buttons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Responsive, modern look with no CSS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ava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JavaScript (Vanilla)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Frontend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app.js handles login, chat, typing indicator and mode switching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Uses the Fetch API to talk to the Flask backend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Stores the Groq API key in localStorage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JSON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Knowledge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university_data.json grounds Academic answers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internship_template.json feeds the live-style internship feed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Loaded and injected into LLM prompts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t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Calibri"/>
              </a:rPr>
              <a:t>unittest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7AE0"/>
                </a:solidFill>
                <a:latin typeface="Calibri"/>
              </a:rPr>
              <a:t>Automated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926080"/>
            <a:ext cx="6126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tests/ verify chatbot replies and login-protected chat</a:t>
            </a:r>
          </a:p>
          <a:p>
            <a:pPr algn="l"/>
            <a:r>
              <a:rPr sz="1700" b="0">
                <a:solidFill>
                  <a:srgbClr val="4A5568"/>
                </a:solidFill>
                <a:latin typeface="Calibri"/>
              </a:rPr>
              <a:t>•  Mocks Groq calls and checks the API key is never leaked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011680"/>
            <a:ext cx="8229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5BDC9"/>
                </a:solidFill>
                <a:latin typeface="Calibri"/>
              </a:rPr>
              <a:t>A compact full-stack AI app built from focused, well-known tools: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•  Python + Flask  –  backend &amp; REST API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•  scikit-learn + joblib  –  ML intent classification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•  requests + Groq LLM  –  smart, grounded answers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•  HTML / CSS / JavaScript  –  the chat interface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•  JSON data + unittest  –  knowledge &amp; quality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9EC5F5"/>
                </a:solidFill>
                <a:latin typeface="Calibri"/>
              </a:rPr>
              <a:t>Simple to run:  python app.py  →  http://127.0.0.1:5000/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